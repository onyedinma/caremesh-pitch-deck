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1097280"/>
            <a:ext cx="5760720" cy="576072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0467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0"/>
                </a:solidFill>
                <a:latin typeface="Calibri"/>
              </a:rPr>
              <a:t>Team TechyTeker  ·  Professional Foundations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CareMesh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C4B4"/>
                </a:solidFill>
                <a:latin typeface="Calibri"/>
              </a:rPr>
              <a:t>Diaspora Doctor Virtual Care Program (DDVCP)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AAABB"/>
                </a:solidFill>
                <a:latin typeface="Calibri"/>
              </a:rPr>
              <a:t>"Expertise Without Borders"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297680"/>
            <a:ext cx="4846320" cy="274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348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BB"/>
                </a:solidFill>
                <a:latin typeface="Calibri"/>
              </a:rPr>
              <a:t>Transforming Brain Drain into Brain Gain — a secure, cloud-based telemedicine platform
enabling Nigerian diaspora doctors to serve as a virtual extension of Nigeria's healthcare workforce.</a:t>
            </a:r>
          </a:p>
        </p:txBody>
      </p:sp>
    </p:spTree>
  </p:cSld>
  <p:clrMapOvr>
    <a:masterClrMapping/>
  </p:clrMapOvr>
  <p:transition dur="6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331500"/>
          </a:solidFill>
          <a:ln w="762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00"/>
                </a:solidFill>
                <a:latin typeface="Calibri"/>
              </a:rPr>
              <a:t>GCGO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6B00"/>
                </a:solidFill>
                <a:latin typeface="Calibri"/>
              </a:rPr>
              <a:t>Impact of Brain Drain on
Nigeria's Healthcare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  <a:latin typeface="Calibri"/>
              </a:rPr>
              <a:t>Nigeria's healthcare system is facing a critical crisis due to the continuous migration of trained medical professionals abroad.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5760720" cy="150876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64008" cy="1508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555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Continuous Brain Drain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5559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Trained professionals continuously migrate abroad, draining Nigeria of vital healthcare talent.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788920"/>
            <a:ext cx="5760720" cy="150876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788920"/>
            <a:ext cx="64008" cy="1508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80360"/>
            <a:ext cx="555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Uneven Doctor-Patient Ratios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91840"/>
            <a:ext cx="5559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Severe imbalances lead to overburdened urban hospitals and critical shortages in rural areas.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5760720" cy="150876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64008" cy="1508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72000"/>
            <a:ext cx="555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Weakened Clinical 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5559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Local capacity has diminished, wait times increased, specialist access severely limited.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480560"/>
            <a:ext cx="5760720" cy="150876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480560"/>
            <a:ext cx="64008" cy="1508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572000"/>
            <a:ext cx="555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Underserved Communities Suffer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983480"/>
            <a:ext cx="5559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Rural regions bear the brunt — patients travel long distances or go without specialist care.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8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36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72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002724"/>
          </a:solidFill>
          <a:ln w="762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Diaspora Doctor Virtual Care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  <a:latin typeface="Calibri"/>
              </a:rPr>
              <a:t>A secure, cloud-based telemedicine platform connecting Nigerian hospitals with highly skilled Nigerian doctors in the diaspora (UK, USA, Canada). Transforming Brain Drain into Brain 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3657600" cy="2194560"/>
          </a:xfrm>
          <a:prstGeom prst="rect">
            <a:avLst/>
          </a:prstGeom>
          <a:solidFill>
            <a:srgbClr val="182238"/>
          </a:solidFill>
          <a:ln w="190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3657600" cy="73152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🇳🇬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51"/>
                </a:solidFill>
                <a:latin typeface="Calibri"/>
              </a:rPr>
              <a:t>Nigerian Hospitals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Local facilities request specialist support for complex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2788920"/>
            <a:ext cx="3657600" cy="2194560"/>
          </a:xfrm>
          <a:prstGeom prst="rect">
            <a:avLst/>
          </a:prstGeom>
          <a:solidFill>
            <a:srgbClr val="182238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2788920"/>
            <a:ext cx="3657600" cy="7315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9260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B4"/>
                </a:solidFill>
                <a:latin typeface="Calibri"/>
              </a:rPr>
              <a:t>CareMesh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Secure cloud bridge: EHR, HD video, file sharing, offline-first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5" y="2788920"/>
            <a:ext cx="3657600" cy="2194560"/>
          </a:xfrm>
          <a:prstGeom prst="rect">
            <a:avLst/>
          </a:prstGeom>
          <a:solidFill>
            <a:srgbClr val="182238"/>
          </a:solidFill>
          <a:ln w="1905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2788920"/>
            <a:ext cx="365760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29260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5" y="3566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Calibri"/>
              </a:rPr>
              <a:t>Diaspora Doctors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5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Skilled Nigerian doctors in UK, US, Canada deliver virtual care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0"/>
                </a:solidFill>
                <a:latin typeface="Calibri"/>
              </a:rPr>
              <a:t>Cloud-Based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4136" y="51663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0"/>
                </a:solidFill>
                <a:latin typeface="Calibri"/>
              </a:rPr>
              <a:t>NDPR Compliant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51663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0"/>
                </a:solidFill>
                <a:latin typeface="Calibri"/>
              </a:rPr>
              <a:t>Mobile-First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08008" y="51663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8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0"/>
                </a:solidFill>
                <a:latin typeface="Calibri"/>
              </a:rPr>
              <a:t>Offline-Capable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5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75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105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002724"/>
          </a:solidFill>
          <a:ln w="762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CareMesh Delivers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669280" cy="1261872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64008" cy="12618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5468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Real-Time Video + EHR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5468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HD video/audio with integrated Electronic Health Records for seamless specialist consultations.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920240"/>
            <a:ext cx="5669280" cy="1261872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920240"/>
            <a:ext cx="64008" cy="1261872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468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Remote Diagnosis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5468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Specialist second opinions, referrals, and complex case reviews for local doctors.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5669280" cy="1261872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37560"/>
            <a:ext cx="64008" cy="126187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29000"/>
            <a:ext cx="5468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Secure File 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80"/>
            <a:ext cx="5468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End-to-end encrypted sharing of lab results, scans, and imaging between doctors.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337560"/>
            <a:ext cx="5669280" cy="1261872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337560"/>
            <a:ext cx="64008" cy="12618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5468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Mentorship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5468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Senior diaspora doctors train and support junior medical staff in Nigerian hospitals.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5669280" cy="1261872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64008" cy="12618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46320"/>
            <a:ext cx="5468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Offline / Low Bandwidth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57800"/>
            <a:ext cx="5468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Supports offline queuing and async case reviews — built for rural connectivity.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754880"/>
            <a:ext cx="5669280" cy="1261872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4754880"/>
            <a:ext cx="64008" cy="1261872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846320"/>
            <a:ext cx="5468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Incentive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57800"/>
            <a:ext cx="5468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Tax credits, CME credits, and professional recognition to keep doctors engaged.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2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24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36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72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84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96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001B10"/>
          </a:solidFill>
          <a:ln w="762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751"/>
                </a:solidFill>
                <a:latin typeface="Calibri"/>
              </a:rPr>
              <a:t>User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5570"/>
                </a:solidFill>
                <a:latin typeface="Calibri"/>
              </a:rPr>
              <a:t>Step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331720"/>
            <a:ext cx="1417320" cy="1417320"/>
          </a:xfrm>
          <a:prstGeom prst="rect">
            <a:avLst/>
          </a:prstGeom>
          <a:solidFill>
            <a:srgbClr val="182238"/>
          </a:solidFill>
          <a:ln w="2540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4688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751"/>
                </a:solidFill>
                <a:latin typeface="Calibri"/>
              </a:rPr>
              <a:t>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0"/>
                </a:solidFill>
                <a:latin typeface="Calibri"/>
              </a:rPr>
              <a:t>In Nigeria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  <a:latin typeface="Calibri"/>
              </a:rPr>
              <a:t>Visits local hospital with a complex condition requiring specialist care.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88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555570"/>
                </a:solidFill>
                <a:latin typeface="Calibr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5570"/>
                </a:solidFill>
                <a:latin typeface="Calibri"/>
              </a:rPr>
              <a:t>Step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8968" y="2331720"/>
            <a:ext cx="1417320" cy="1417320"/>
          </a:xfrm>
          <a:prstGeom prst="rect">
            <a:avLst/>
          </a:prstGeom>
          <a:solidFill>
            <a:srgbClr val="182238"/>
          </a:solidFill>
          <a:ln w="25400">
            <a:solidFill>
              <a:srgbClr val="60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968" y="24688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090FF"/>
                </a:solidFill>
                <a:latin typeface="Calibri"/>
              </a:rPr>
              <a:t>Local Hospital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0"/>
                </a:solidFill>
                <a:latin typeface="Calibri"/>
              </a:rPr>
              <a:t>Nigerian Facility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617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  <a:latin typeface="Calibri"/>
              </a:rPr>
              <a:t>Uploads patient EHR and securely shares lab results and scans via CareMesh.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27889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555570"/>
                </a:solidFill>
                <a:latin typeface="Calibri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55570"/>
                </a:solidFill>
                <a:latin typeface="Calibri"/>
              </a:rPr>
              <a:t>Step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5" y="2331720"/>
            <a:ext cx="1417320" cy="1417320"/>
          </a:xfrm>
          <a:prstGeom prst="rect">
            <a:avLst/>
          </a:prstGeom>
          <a:solidFill>
            <a:srgbClr val="182238"/>
          </a:solidFill>
          <a:ln w="254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246888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4B4"/>
                </a:solidFill>
                <a:latin typeface="Calibri"/>
              </a:rPr>
              <a:t>Diaspora Doctor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0"/>
                </a:solidFill>
                <a:latin typeface="Calibri"/>
              </a:rPr>
              <a:t>UK / USA / Canada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4617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  <a:latin typeface="Calibri"/>
              </a:rPr>
              <a:t>Reviews case, joins scheduled or on-demand video consult, advises treatment.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235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8751"/>
                </a:solidFill>
                <a:latin typeface="Calibri"/>
              </a:rPr>
              <a:t>Scheduled Appointments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74136" y="56235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8751"/>
                </a:solidFill>
                <a:latin typeface="Calibri"/>
              </a:rPr>
              <a:t>On-Demand Consultations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56235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8751"/>
                </a:solidFill>
                <a:latin typeface="Calibri"/>
              </a:rPr>
              <a:t>Async Case Reviews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5623560"/>
            <a:ext cx="2743200" cy="347472"/>
          </a:xfrm>
          <a:prstGeom prst="rect">
            <a:avLst/>
          </a:prstGeom>
          <a:solidFill>
            <a:srgbClr val="0F1727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8751"/>
                </a:solidFill>
                <a:latin typeface="Calibri"/>
              </a:rPr>
              <a:t>Mentorship Sessions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84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98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112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grpId="0" nodeType="withEffect">
                      <p:stCondLst>
                        <p:cond delay="1260"/>
                      </p:stCondLst>
                      <p:childTnLst>
                        <p:animEffect transition="in" filter="fade">
                          <p:cBhvr>
                            <p:cTn id="31" dur="48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002724"/>
          </a:solidFill>
          <a:ln w="762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 Massive, Underserved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657600" cy="2240280"/>
          </a:xfrm>
          <a:prstGeom prst="rect">
            <a:avLst/>
          </a:prstGeom>
          <a:solidFill>
            <a:srgbClr val="182238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3657600" cy="7315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B4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591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4B4"/>
                </a:solidFill>
                <a:latin typeface="Calibri"/>
              </a:rPr>
              <a:t>$15.4B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African telemedicine market by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70"/>
                </a:solidFill>
                <a:latin typeface="Calibri"/>
              </a:rPr>
              <a:t>Source: Grand View Research, 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1920240"/>
            <a:ext cx="3657600" cy="2240280"/>
          </a:xfrm>
          <a:prstGeom prst="rect">
            <a:avLst/>
          </a:prstGeom>
          <a:solidFill>
            <a:srgbClr val="182238"/>
          </a:solidFill>
          <a:ln w="190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920240"/>
            <a:ext cx="3657600" cy="73152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2029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751"/>
                </a:solidFill>
                <a:latin typeface="Calibri"/>
              </a:rP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3591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751"/>
                </a:solidFill>
                <a:latin typeface="Calibri"/>
              </a:rPr>
              <a:t>$3.2B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063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Nigeria &amp; West Africa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520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70"/>
                </a:solidFill>
                <a:latin typeface="Calibri"/>
              </a:rPr>
              <a:t>Source: GSMA Intelligence, 2023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6175" y="1920240"/>
            <a:ext cx="3657600" cy="2240280"/>
          </a:xfrm>
          <a:prstGeom prst="rect">
            <a:avLst/>
          </a:prstGeom>
          <a:solidFill>
            <a:srgbClr val="182238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5" y="1920240"/>
            <a:ext cx="3657600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5" y="2029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Calibri"/>
              </a:rPr>
              <a:t>SOM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5" y="235915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Calibri"/>
              </a:rPr>
              <a:t>$120M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5" y="3063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Diaspora-to-Nigeria specialist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5" y="3520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70"/>
                </a:solidFill>
                <a:latin typeface="Calibri"/>
              </a:rPr>
              <a:t>Source: Estimated from NMA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159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70"/>
                </a:solidFill>
                <a:latin typeface="Calibri"/>
              </a:rPr>
              <a:t>Key Market Tailwinds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81728"/>
            <a:ext cx="2743200" cy="114300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365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B4"/>
                </a:solidFill>
                <a:latin typeface="Calibri"/>
              </a:rPr>
              <a:t>54%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  <a:latin typeface="Calibri"/>
              </a:rPr>
              <a:t>Nigerians with smartphones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74136" y="4681728"/>
            <a:ext cx="2743200" cy="114300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47365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B4"/>
                </a:solidFill>
                <a:latin typeface="Calibri"/>
              </a:rPr>
              <a:t>40,000+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4136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  <a:latin typeface="Calibri"/>
              </a:rPr>
              <a:t>Nigerian doctors abroad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4681728"/>
            <a:ext cx="2743200" cy="114300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47365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B4"/>
                </a:solidFill>
                <a:latin typeface="Calibri"/>
              </a:rPr>
              <a:t>$24B+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  <a:latin typeface="Calibri"/>
              </a:rPr>
              <a:t>Diaspora remittances/year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08008" y="4681728"/>
            <a:ext cx="2743200" cy="114300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8" y="47365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4B4"/>
                </a:solidFill>
                <a:latin typeface="Calibri"/>
              </a:rPr>
              <a:t>35% YoY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  <a:latin typeface="Calibri"/>
              </a:rPr>
              <a:t>African telehealth growth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3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65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91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104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grpId="0" nodeType="withEffect">
                      <p:stCondLst>
                        <p:cond delay="1170"/>
                      </p:stCondLst>
                      <p:childTnLst>
                        <p:animEffect transition="in" filter="fade">
                          <p:cBhvr>
                            <p:cTn id="31" dur="48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grpId="0" nodeType="withEffect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34" dur="48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331500"/>
          </a:solidFill>
          <a:ln w="762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00"/>
                </a:solidFill>
                <a:latin typeface="Calibri"/>
              </a:rPr>
              <a:t>Business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How CareMesh Sustains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657600" cy="2651760"/>
          </a:xfrm>
          <a:prstGeom prst="rect">
            <a:avLst/>
          </a:prstGeom>
          <a:solidFill>
            <a:srgbClr val="182238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3657600" cy="7315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B4"/>
                </a:solidFill>
                <a:latin typeface="Calibri"/>
              </a:rPr>
              <a:t>Hospital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70"/>
                </a:solidFill>
                <a:latin typeface="Calibri"/>
              </a:rPr>
              <a:t>B2B SaaS  ·  Primary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Nigerian hospitals pay monthly subscription for diaspora specialist network and EHR integration.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1920240"/>
            <a:ext cx="3657600" cy="2651760"/>
          </a:xfrm>
          <a:prstGeom prst="rect">
            <a:avLst/>
          </a:prstGeom>
          <a:solidFill>
            <a:srgbClr val="182238"/>
          </a:solidFill>
          <a:ln w="190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920240"/>
            <a:ext cx="3657600" cy="73152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788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751"/>
                </a:solidFill>
                <a:latin typeface="Calibri"/>
              </a:rPr>
              <a:t>Per-Consultation 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70"/>
                </a:solidFill>
                <a:latin typeface="Calibri"/>
              </a:rPr>
              <a:t>Transaction  ·  Secondary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566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Small platform fee per completed specialist consultation, scaled by case complexity.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6175" y="1920240"/>
            <a:ext cx="3657600" cy="2651760"/>
          </a:xfrm>
          <a:prstGeom prst="rect">
            <a:avLst/>
          </a:prstGeom>
          <a:solidFill>
            <a:srgbClr val="182238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5" y="1920240"/>
            <a:ext cx="3657600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5" y="2788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00"/>
                </a:solidFill>
                <a:latin typeface="Calibri"/>
              </a:rPr>
              <a:t>Mentorship Programme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70"/>
                </a:solidFill>
                <a:latin typeface="Calibri"/>
              </a:rPr>
              <a:t>Premium Tier  ·  Growth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3566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Hospitals and medical schools pay for structured CME sessions with diaspora specialists.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11247120" cy="274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0"/>
                </a:solidFill>
                <a:latin typeface="Calibri"/>
              </a:rPr>
              <a:t>Value Exchange: Hospitals pay fees  &gt;  CareMesh platform  &gt;  CME + recognition + income for diaspora doctors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5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75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105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grpId="0" nodeType="withEffect">
                      <p:stCondLst>
                        <p:cond delay="1350"/>
                      </p:stCondLst>
                      <p:childTnLst>
                        <p:animEffect transition="in" filter="fade">
                          <p:cBhvr>
                            <p:cTn id="31" dur="48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001B10"/>
          </a:solidFill>
          <a:ln w="762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751"/>
                </a:solidFill>
                <a:latin typeface="Calibri"/>
              </a:rPr>
              <a:t>Product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Live Interactive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  <a:latin typeface="Calibri"/>
              </a:rPr>
              <a:t>Fully interactive, high-fidelity web prototype with 12 complete screens covering every major user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Landing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256032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Doctor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256032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Consultation 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8008" y="256032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Patient Home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79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11295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Hospital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74136" y="3383279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3864" y="3511295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EHR 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3383279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11295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Mentorship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3383279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3511295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Appointments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33425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Incentives &amp; Impact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74136" y="420624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4" y="433425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Onboarding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20624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33425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Specialties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08008" y="4206240"/>
            <a:ext cx="2743200" cy="6583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433425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Impact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66360"/>
            <a:ext cx="5029200" cy="621792"/>
          </a:xfrm>
          <a:prstGeom prst="rect">
            <a:avLst/>
          </a:prstGeom>
          <a:solidFill>
            <a:srgbClr val="182238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30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4B4"/>
                </a:solidFill>
                <a:latin typeface="Calibri"/>
              </a:rPr>
              <a:t>caremesh.netlify.app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166360"/>
            <a:ext cx="5029200" cy="621792"/>
          </a:xfrm>
          <a:prstGeom prst="rect">
            <a:avLst/>
          </a:prstGeom>
          <a:solidFill>
            <a:srgbClr val="182238"/>
          </a:solidFill>
          <a:ln w="190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5230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youtu.be/JMXBDh9KiD0  (Demo Video)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8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16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24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grpId="0" nodeType="withEffect">
                      <p:stCondLst>
                        <p:cond delay="720"/>
                      </p:stCondLst>
                      <p:childTnLst>
                        <p:animEffect transition="in" filter="fade">
                          <p:cBhvr>
                            <p:cTn id="31" dur="48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001B10"/>
          </a:solidFill>
          <a:ln w="762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751"/>
                </a:solidFill>
                <a:latin typeface="Calibri"/>
              </a:rP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Why CareMesh Wins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2834640" cy="50292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AAABB"/>
                </a:solidFill>
                <a:latin typeface="Calibri"/>
              </a:rPr>
              <a:t>Capability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874519"/>
            <a:ext cx="2103120" cy="502920"/>
          </a:xfrm>
          <a:prstGeom prst="rect">
            <a:avLst/>
          </a:prstGeom>
          <a:solidFill>
            <a:srgbClr val="002E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4B4"/>
                </a:solidFill>
                <a:latin typeface="Calibri"/>
              </a:rPr>
              <a:t>CareMesh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1874519"/>
            <a:ext cx="2103120" cy="50292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AAABB"/>
                </a:solidFill>
                <a:latin typeface="Calibri"/>
              </a:rPr>
              <a:t>Generic Telehealth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2103120" cy="50292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AAABB"/>
                </a:solidFill>
                <a:latin typeface="Calibri"/>
              </a:rPr>
              <a:t>Medical Tourism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7000" y="1874519"/>
            <a:ext cx="1783080" cy="502920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19202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AAABB"/>
                </a:solidFill>
                <a:latin typeface="Calibri"/>
              </a:rPr>
              <a:t>Local Hospitals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95728"/>
            <a:ext cx="283464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395728"/>
            <a:ext cx="2103120" cy="530352"/>
          </a:xfrm>
          <a:prstGeom prst="rect">
            <a:avLst/>
          </a:prstGeom>
          <a:solidFill>
            <a:srgbClr val="00222A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239572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239572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87000" y="2395728"/>
            <a:ext cx="178308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48716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Diaspora Doctor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4688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4688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4688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46888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44368"/>
            <a:ext cx="283464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2944368"/>
            <a:ext cx="2103120" cy="530352"/>
          </a:xfrm>
          <a:prstGeom prst="rect">
            <a:avLst/>
          </a:prstGeom>
          <a:solidFill>
            <a:srgbClr val="00222A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0" y="2944368"/>
            <a:ext cx="210312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2944368"/>
            <a:ext cx="210312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87000" y="2944368"/>
            <a:ext cx="178308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03580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Offline / Low-Bandwidth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0175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0175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0175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0175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493008"/>
            <a:ext cx="283464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29000" y="3493008"/>
            <a:ext cx="2103120" cy="530352"/>
          </a:xfrm>
          <a:prstGeom prst="rect">
            <a:avLst/>
          </a:prstGeom>
          <a:solidFill>
            <a:srgbClr val="00222A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15000" y="349300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01000" y="349300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87000" y="3493008"/>
            <a:ext cx="178308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358444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Integrated EHR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35661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35661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  <a:latin typeface="Calibri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35661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356616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  <a:latin typeface="Calibri"/>
              </a:rPr>
              <a:t>~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041648"/>
            <a:ext cx="283464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29000" y="4041648"/>
            <a:ext cx="2103120" cy="530352"/>
          </a:xfrm>
          <a:prstGeom prst="rect">
            <a:avLst/>
          </a:prstGeom>
          <a:solidFill>
            <a:srgbClr val="00222A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15000" y="4041648"/>
            <a:ext cx="210312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01000" y="4041648"/>
            <a:ext cx="210312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87000" y="4041648"/>
            <a:ext cx="178308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13308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Mentorship Platform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41148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1148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41148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411480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  <a:latin typeface="Calibri"/>
              </a:rPr>
              <a:t>~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90288"/>
            <a:ext cx="283464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29000" y="4590288"/>
            <a:ext cx="2103120" cy="530352"/>
          </a:xfrm>
          <a:prstGeom prst="rect">
            <a:avLst/>
          </a:prstGeom>
          <a:solidFill>
            <a:srgbClr val="00222A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459028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01000" y="459028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87000" y="4590288"/>
            <a:ext cx="178308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468172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NDPR Compliance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000" y="46634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0" y="46634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1000" y="46634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87000" y="466344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138928"/>
            <a:ext cx="283464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29000" y="5138928"/>
            <a:ext cx="2103120" cy="530352"/>
          </a:xfrm>
          <a:prstGeom prst="rect">
            <a:avLst/>
          </a:prstGeom>
          <a:solidFill>
            <a:srgbClr val="00222A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15000" y="5138928"/>
            <a:ext cx="210312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01000" y="5138928"/>
            <a:ext cx="210312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287000" y="5138928"/>
            <a:ext cx="1783080" cy="530352"/>
          </a:xfrm>
          <a:prstGeom prst="rect">
            <a:avLst/>
          </a:prstGeom>
          <a:solidFill>
            <a:srgbClr val="0F1727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" y="523036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CME Incentives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29000" y="52120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15000" y="52120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52120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87000" y="521208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687568"/>
            <a:ext cx="283464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429000" y="5687568"/>
            <a:ext cx="2103120" cy="530352"/>
          </a:xfrm>
          <a:prstGeom prst="rect">
            <a:avLst/>
          </a:prstGeom>
          <a:solidFill>
            <a:srgbClr val="00222A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15000" y="568756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5687568"/>
            <a:ext cx="210312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87000" y="5687568"/>
            <a:ext cx="1783080" cy="530352"/>
          </a:xfrm>
          <a:prstGeom prst="rect">
            <a:avLst/>
          </a:prstGeom>
          <a:solidFill>
            <a:srgbClr val="182238"/>
          </a:solidFill>
          <a:ln w="5080">
            <a:solidFill>
              <a:srgbClr val="20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0352" y="5779008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alibri"/>
              </a:rPr>
              <a:t>Rural Focus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7607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751"/>
                </a:solidFill>
                <a:latin typeface="Calibri"/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0" y="57607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57607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87000" y="57607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4444"/>
                </a:solidFill>
                <a:latin typeface="Calibri"/>
              </a:rPr>
              <a:t>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70"/>
                </a:solidFill>
                <a:latin typeface="Calibri"/>
              </a:rPr>
              <a:t>✓ Full capability   ~  Partial   x  Not available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0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131C33"/>
          </a:solidFill>
          <a:ln w="7620">
            <a:solidFill>
              <a:srgbClr val="60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90FF"/>
                </a:solidFill>
                <a:latin typeface="Calibri"/>
              </a:rPr>
              <a:t>Data &amp; Projections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0"/>
                </a:solidFill>
                <a:latin typeface="Calibri"/>
              </a:rPr>
              <a:t>Real-world citations + clearly labelled projected outcomes from comparable telemedicine implementations.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3657600" cy="1874519"/>
          </a:xfrm>
          <a:prstGeom prst="rect">
            <a:avLst/>
          </a:prstGeom>
          <a:solidFill>
            <a:srgbClr val="182238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957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00"/>
                </a:solidFill>
                <a:latin typeface="Calibri"/>
              </a:rPr>
              <a:t>&lt; 1 doctor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 1,000 Nigerians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  <a:latin typeface="Calibri"/>
              </a:rPr>
              <a:t>Nigeria's critical shortage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587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70"/>
                </a:solidFill>
                <a:latin typeface="Calibri"/>
              </a:rPr>
              <a:t>Source: WHO Global Health Observatory, 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286000"/>
            <a:ext cx="3657600" cy="1874519"/>
          </a:xfrm>
          <a:prstGeom prst="rect">
            <a:avLst/>
          </a:prstGeom>
          <a:solidFill>
            <a:srgbClr val="182238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2286000"/>
            <a:ext cx="3657600" cy="7315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23957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4B4"/>
                </a:solidFill>
                <a:latin typeface="Calibri"/>
              </a:rPr>
              <a:t>40,000+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Nigerian doctors abroad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  <a:latin typeface="Calibri"/>
              </a:rPr>
              <a:t>Diaspora talent pool for DDVCP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8587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70"/>
                </a:solidFill>
                <a:latin typeface="Calibri"/>
              </a:rPr>
              <a:t>Source: Nigerian Medical Association, 2022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6175" y="2286000"/>
            <a:ext cx="3657600" cy="1874519"/>
          </a:xfrm>
          <a:prstGeom prst="rect">
            <a:avLst/>
          </a:prstGeom>
          <a:solidFill>
            <a:srgbClr val="182238"/>
          </a:solidFill>
          <a:ln w="190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66175" y="2286000"/>
            <a:ext cx="3657600" cy="73152"/>
          </a:xfrm>
          <a:prstGeom prst="rect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5" y="23957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751"/>
                </a:solidFill>
                <a:latin typeface="Calibri"/>
              </a:rPr>
              <a:t>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5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reduction in wait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5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  <a:latin typeface="Calibri"/>
              </a:rPr>
              <a:t>Comparable telemedicine programmes in sub-Saharan Africa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5" y="38587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70"/>
                </a:solidFill>
                <a:latin typeface="Calibri"/>
              </a:rPr>
              <a:t>Source: Lancet Digital Health,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3159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70"/>
                </a:solidFill>
                <a:latin typeface="Calibri"/>
              </a:rPr>
              <a:t>Projected Outcomes (Comparable Telemedicine Systems)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81728"/>
            <a:ext cx="3657600" cy="11155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274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751"/>
                </a:solidFill>
                <a:latin typeface="Calibri"/>
              </a:rPr>
              <a:t>72hrs+ &gt; &lt;30min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85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  <a:latin typeface="Calibri"/>
              </a:rPr>
              <a:t>Specialist Access 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4681728"/>
            <a:ext cx="3657600" cy="11155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47274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751"/>
                </a:solidFill>
                <a:latin typeface="Calibri"/>
              </a:rPr>
              <a:t>~34% &gt; ~85%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5285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  <a:latin typeface="Calibri"/>
              </a:rPr>
              <a:t>Diagnostic Support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6175" y="4681728"/>
            <a:ext cx="3657600" cy="1115568"/>
          </a:xfrm>
          <a:prstGeom prst="rect">
            <a:avLst/>
          </a:prstGeom>
          <a:solidFill>
            <a:srgbClr val="182238"/>
          </a:solidFill>
          <a:ln w="6350">
            <a:solidFill>
              <a:srgbClr val="28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5" y="47274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751"/>
                </a:solidFill>
                <a:latin typeface="Calibri"/>
              </a:rPr>
              <a:t>$2,000+ &gt; &lt;$100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5285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  <a:latin typeface="Calibri"/>
              </a:rPr>
              <a:t>Cost vs Medical Tourism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3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65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91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104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grpId="0" nodeType="withEffect">
                      <p:stCondLst>
                        <p:cond delay="1170"/>
                      </p:stCondLst>
                      <p:childTnLst>
                        <p:animEffect transition="in" filter="fade">
                          <p:cBhvr>
                            <p:cTn id="31" dur="48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grpId="0" nodeType="withEffect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34" dur="48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201533"/>
          </a:solidFill>
          <a:ln w="762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6CFF"/>
                </a:solidFill>
                <a:latin typeface="Calibri"/>
              </a:rPr>
              <a:t>User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06CFF"/>
                </a:solidFill>
                <a:latin typeface="Calibri"/>
              </a:rPr>
              <a:t>User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669280" cy="2029968"/>
          </a:xfrm>
          <a:prstGeom prst="rect">
            <a:avLst/>
          </a:prstGeom>
          <a:solidFill>
            <a:srgbClr val="12102A"/>
          </a:solidFill>
          <a:ln w="9525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Dr. Ifeanyi Okoronkwo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70"/>
                </a:solidFill>
                <a:latin typeface="Calibri"/>
              </a:rPr>
              <a:t>Practicing Doctor, Lagos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7004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  <a:latin typeface="Calibri"/>
              </a:rPr>
              <a:t>"Doctors need strong data security and compliance with Nigerian data protection laws."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37560"/>
            <a:ext cx="5440680" cy="457200"/>
          </a:xfrm>
          <a:prstGeom prst="rect">
            <a:avLst/>
          </a:prstGeom>
          <a:solidFill>
            <a:srgbClr val="002218"/>
          </a:solidFill>
          <a:ln w="63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01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751"/>
                </a:solidFill>
                <a:latin typeface="Calibri"/>
              </a:rPr>
              <a:t>Action: End-to-end encryption + compliance badges on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920240"/>
            <a:ext cx="5669280" cy="2029968"/>
          </a:xfrm>
          <a:prstGeom prst="rect">
            <a:avLst/>
          </a:prstGeom>
          <a:solidFill>
            <a:srgbClr val="12102A"/>
          </a:solidFill>
          <a:ln w="9525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Nurse Christie Onyedinma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59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70"/>
                </a:solidFill>
                <a:latin typeface="Calibri"/>
              </a:rPr>
              <a:t>Rural Clinic Worker, 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7004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  <a:latin typeface="Calibri"/>
              </a:rPr>
              <a:t>"Internet reliability is poor in rural areas; the app must work offline."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6248" y="3337560"/>
            <a:ext cx="5440680" cy="457200"/>
          </a:xfrm>
          <a:prstGeom prst="rect">
            <a:avLst/>
          </a:prstGeom>
          <a:solidFill>
            <a:srgbClr val="002218"/>
          </a:solidFill>
          <a:ln w="63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401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751"/>
                </a:solidFill>
                <a:latin typeface="Calibri"/>
              </a:rPr>
              <a:t>Action: Offline queuing and asynchronous case reviews prioritised.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33087"/>
            <a:ext cx="5669280" cy="2029968"/>
          </a:xfrm>
          <a:prstGeom prst="rect">
            <a:avLst/>
          </a:prstGeom>
          <a:solidFill>
            <a:srgbClr val="12102A"/>
          </a:solidFill>
          <a:ln w="9525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2452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Dr. Okoroafor Ikenna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7199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70"/>
                </a:solidFill>
                <a:latin typeface="Calibri"/>
              </a:rPr>
              <a:t>Nigerian Doctor, UK (Diaspora)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5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  <a:latin typeface="Calibri"/>
              </a:rPr>
              <a:t>"Diaspora doctors need simple incentives — easy CME credit earning."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550407"/>
            <a:ext cx="5440680" cy="457200"/>
          </a:xfrm>
          <a:prstGeom prst="rect">
            <a:avLst/>
          </a:prstGeom>
          <a:solidFill>
            <a:srgbClr val="002218"/>
          </a:solidFill>
          <a:ln w="63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61441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751"/>
                </a:solidFill>
                <a:latin typeface="Calibri"/>
              </a:rPr>
              <a:t>Action: Dedicated Impact &amp; Recognition dashboard built.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133087"/>
            <a:ext cx="5669280" cy="2029968"/>
          </a:xfrm>
          <a:prstGeom prst="rect">
            <a:avLst/>
          </a:prstGeom>
          <a:solidFill>
            <a:srgbClr val="12102A"/>
          </a:solidFill>
          <a:ln w="9525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2452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Mr. Tunde Adeyemi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57199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70"/>
                </a:solidFill>
                <a:latin typeface="Calibri"/>
              </a:rPr>
              <a:t>Patient (lost family to delayed specialist care)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82895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  <a:latin typeface="Calibri"/>
              </a:rPr>
              <a:t>"We need easy appointment booking and fast specialist matching."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5550407"/>
            <a:ext cx="5440680" cy="457200"/>
          </a:xfrm>
          <a:prstGeom prst="rect">
            <a:avLst/>
          </a:prstGeom>
          <a:solidFill>
            <a:srgbClr val="002218"/>
          </a:solidFill>
          <a:ln w="63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7688" y="561441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751"/>
                </a:solidFill>
                <a:latin typeface="Calibri"/>
              </a:rPr>
              <a:t>Action: Matching UI with specialty/language filters + Quick Consult button.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5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75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105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8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75488"/>
            <a:ext cx="2834640" cy="274320"/>
          </a:xfrm>
          <a:prstGeom prst="rect">
            <a:avLst/>
          </a:prstGeom>
          <a:solidFill>
            <a:srgbClr val="131C33"/>
          </a:solidFill>
          <a:ln w="7620">
            <a:solidFill>
              <a:srgbClr val="60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90FF"/>
                </a:solidFill>
                <a:latin typeface="Calibri"/>
              </a:rPr>
              <a:t>Team TechyTeker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4124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2194560" cy="3657600"/>
          </a:xfrm>
          <a:prstGeom prst="rect">
            <a:avLst/>
          </a:prstGeom>
          <a:solidFill>
            <a:srgbClr val="182238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011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👨‍💼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Evidence Emmanuel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1920240" cy="365760"/>
          </a:xfrm>
          <a:prstGeom prst="rect">
            <a:avLst/>
          </a:prstGeom>
          <a:solidFill>
            <a:srgbClr val="002228"/>
          </a:solidFill>
          <a:ln w="63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Project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Calibri"/>
              </a:rPr>
              <a:t>Backup: Data Analyst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0904" y="1920240"/>
            <a:ext cx="2194560" cy="3657600"/>
          </a:xfrm>
          <a:prstGeom prst="rect">
            <a:avLst/>
          </a:prstGeom>
          <a:solidFill>
            <a:srgbClr val="182238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0904" y="2011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Jideonwo Isioma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8064" y="3703320"/>
            <a:ext cx="1920240" cy="365760"/>
          </a:xfrm>
          <a:prstGeom prst="rect">
            <a:avLst/>
          </a:prstGeom>
          <a:solidFill>
            <a:srgbClr val="002228"/>
          </a:solidFill>
          <a:ln w="63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8064" y="3730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UX Researcher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6624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Calibri"/>
              </a:rPr>
              <a:t>Backup: Product 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1768" y="1920240"/>
            <a:ext cx="2194560" cy="3657600"/>
          </a:xfrm>
          <a:prstGeom prst="rect">
            <a:avLst/>
          </a:prstGeom>
          <a:solidFill>
            <a:srgbClr val="182238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2011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Onyedinma Onyekachi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3703320"/>
            <a:ext cx="1920240" cy="365760"/>
          </a:xfrm>
          <a:prstGeom prst="rect">
            <a:avLst/>
          </a:prstGeom>
          <a:solidFill>
            <a:srgbClr val="002228"/>
          </a:solidFill>
          <a:ln w="63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3730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Product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Calibri"/>
              </a:rPr>
              <a:t>Backup: UI/UX Designer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2631" y="1920240"/>
            <a:ext cx="2194560" cy="3657600"/>
          </a:xfrm>
          <a:prstGeom prst="rect">
            <a:avLst/>
          </a:prstGeom>
          <a:solidFill>
            <a:srgbClr val="182238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011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1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David Audu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79791" y="3703320"/>
            <a:ext cx="1920240" cy="365760"/>
          </a:xfrm>
          <a:prstGeom prst="rect">
            <a:avLst/>
          </a:prstGeom>
          <a:solidFill>
            <a:srgbClr val="002228"/>
          </a:solidFill>
          <a:ln w="63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1" y="3730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Data 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1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Calibri"/>
              </a:rPr>
              <a:t>Backup: UI/UX Designer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83496" y="1920240"/>
            <a:ext cx="2194560" cy="3657600"/>
          </a:xfrm>
          <a:prstGeom prst="rect">
            <a:avLst/>
          </a:prstGeom>
          <a:solidFill>
            <a:srgbClr val="182238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83496" y="2011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6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Emmanuel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0656" y="3703320"/>
            <a:ext cx="1920240" cy="365760"/>
          </a:xfrm>
          <a:prstGeom prst="rect">
            <a:avLst/>
          </a:prstGeom>
          <a:solidFill>
            <a:srgbClr val="002228"/>
          </a:solidFill>
          <a:ln w="63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0656" y="3730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4B4"/>
                </a:solidFill>
                <a:latin typeface="Calibri"/>
              </a:rPr>
              <a:t>UI/UX Designer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84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98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112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grpId="0" nodeType="withEffect">
                      <p:stCondLst>
                        <p:cond delay="1260"/>
                      </p:stCondLst>
                      <p:childTnLst>
                        <p:animEffect transition="in" filter="fade">
                          <p:cBhvr>
                            <p:cTn id="31" dur="48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grpId="0" nodeType="withEffect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34" dur="48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4572000" cy="457200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"/>
            <a:ext cx="256032" cy="2560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70"/>
                </a:solidFill>
                <a:latin typeface="Calibri"/>
              </a:rPr>
              <a:t>CAREMESH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914400"/>
            <a:ext cx="5760720" cy="5760720"/>
          </a:xfrm>
          <a:prstGeom prst="ellipse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04672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Brain Drain  --&gt;  Brain 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BB"/>
                </a:solidFill>
                <a:latin typeface="Calibri"/>
              </a:rPr>
              <a:t>Help us bridge Nigeria's healthcare gap by leveraging the power of the diaspora — no flight ticket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606040"/>
            <a:ext cx="3931920" cy="27432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70"/>
                </a:solidFill>
                <a:latin typeface="Calibri"/>
              </a:rPr>
              <a:t>What We're Looking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3383280" cy="1965960"/>
          </a:xfrm>
          <a:prstGeom prst="rect">
            <a:avLst/>
          </a:prstGeom>
          <a:solidFill>
            <a:srgbClr val="182238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B4"/>
                </a:solidFill>
                <a:latin typeface="Calibri"/>
              </a:rPr>
              <a:t>Pilot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074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  <a:latin typeface="Calibri"/>
              </a:rPr>
              <a:t>2-3 Nigerian hospitals willing to pilot DDVCP in Q3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200400"/>
            <a:ext cx="3383280" cy="1965960"/>
          </a:xfrm>
          <a:prstGeom prst="rect">
            <a:avLst/>
          </a:prstGeom>
          <a:solidFill>
            <a:srgbClr val="182238"/>
          </a:solidFill>
          <a:ln w="19050">
            <a:solidFill>
              <a:srgbClr val="00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27355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776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751"/>
                </a:solidFill>
                <a:latin typeface="Calibri"/>
              </a:rPr>
              <a:t>50 Diaspora Doctors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4074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  <a:latin typeface="Calibri"/>
              </a:rPr>
              <a:t>Nigerian doctors in UK, US, Canada to join as founding specialists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200400"/>
            <a:ext cx="3383280" cy="1965960"/>
          </a:xfrm>
          <a:prstGeom prst="rect">
            <a:avLst/>
          </a:prstGeom>
          <a:solidFill>
            <a:srgbClr val="182238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27355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9776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00"/>
                </a:solidFill>
                <a:latin typeface="Calibri"/>
              </a:rPr>
              <a:t>Seed Funding/Grants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44074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BB"/>
                </a:solidFill>
                <a:latin typeface="Calibri"/>
              </a:rPr>
              <a:t>To fund platform dev, compliance, and market entry in Nigeria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349240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0F19"/>
                </a:solidFill>
                <a:latin typeface="Calibri"/>
              </a:rPr>
              <a:t>Try the Prototype: caremesh.netlify.app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5349240"/>
            <a:ext cx="4389120" cy="566928"/>
          </a:xfrm>
          <a:prstGeom prst="rect">
            <a:avLst/>
          </a:prstGeom>
          <a:solidFill>
            <a:srgbClr val="182238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39496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4B4"/>
                </a:solidFill>
                <a:latin typeface="Calibri"/>
              </a:rPr>
              <a:t>Watch Demo: youtu.be/JMXBDh9KiD0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70"/>
                </a:solidFill>
                <a:latin typeface="Calibri"/>
              </a:rPr>
              <a:t>Team TechyTeker  ·  Professional Foundations 2026</a:t>
            </a:r>
          </a:p>
        </p:txBody>
      </p:sp>
    </p:spTree>
  </p:cSld>
  <p:clrMapOvr>
    <a:masterClrMapping/>
  </p:clrMapOvr>
  <p:transition dur="700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8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presetID="10" presetClass="entr" presetSubtype="0" fill="hold" grpId="0" nodeType="withEffect">
                      <p:stCondLst>
                        <p:cond delay="160"/>
                      </p:stCondLst>
                      <p:childTnLst>
                        <p:animEffect transition="in" filter="fade">
                          <p:cBhvr>
                            <p:cTn id="7" dur="48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grpId="0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0" dur="48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grpId="0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13" dur="48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grpId="0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16" dur="48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9" dur="48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grpId="0" nodeType="withEffect">
                      <p:stCondLst>
                        <p:cond delay="960"/>
                      </p:stCondLst>
                      <p:childTnLst>
                        <p:animEffect transition="in" filter="fade">
                          <p:cBhvr>
                            <p:cTn id="22" dur="48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grpId="0" nodeType="withEffect">
                      <p:stCondLst>
                        <p:cond delay="1120"/>
                      </p:stCondLst>
                      <p:childTnLst>
                        <p:animEffect transition="in" filter="fade">
                          <p:cBhvr>
                            <p:cTn id="25" dur="48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grpId="0" nodeType="withEffect">
                      <p:stCondLst>
                        <p:cond delay="1280"/>
                      </p:stCondLst>
                      <p:childTnLst>
                        <p:animEffect transition="in" filter="fade">
                          <p:cBhvr>
                            <p:cTn id="28" dur="48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